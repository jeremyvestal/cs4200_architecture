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EB Garamond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EBGaramond-bold.fntdata"/><Relationship Id="rId12" Type="http://schemas.openxmlformats.org/officeDocument/2006/relationships/font" Target="fonts/EB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boldItalic.fntdata"/><Relationship Id="rId14" Type="http://schemas.openxmlformats.org/officeDocument/2006/relationships/font" Target="fonts/EB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5157b4d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5157b4d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65157b4d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65157b4d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65157b4d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65157b4d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5157b4d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65157b4d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65157b4d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65157b4d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Memory Access Analyzer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Jeremy Vestal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Purpose: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50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Reads a .s file (assembly file), traces and parses each instruction, and keeps track of all memory-specific instructions.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Counts (load/store)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Address accesses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Stride patterns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Registers and offsets used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900" y="1170125"/>
            <a:ext cx="37338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71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Key code structure: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843" y="1313832"/>
            <a:ext cx="4317974" cy="306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843" y="3156467"/>
            <a:ext cx="2138961" cy="306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843" y="2418364"/>
            <a:ext cx="4511957" cy="306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843" y="2089886"/>
            <a:ext cx="4511956" cy="33661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66850" y="1620601"/>
            <a:ext cx="4317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50" lIns="103950" spcFirstLastPara="1" rIns="103950" wrap="square" tIns="10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7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Loops per instruction</a:t>
            </a:r>
            <a:endParaRPr sz="204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66850" y="844575"/>
            <a:ext cx="32424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50" lIns="103950" spcFirstLastPara="1" rIns="103950" wrap="square" tIns="10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7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Once per file (start)</a:t>
            </a:r>
            <a:endParaRPr sz="204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66850" y="2694088"/>
            <a:ext cx="32424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50" lIns="103950" spcFirstLastPara="1" rIns="103950" wrap="square" tIns="10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7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Once per file (end)</a:t>
            </a:r>
            <a:endParaRPr sz="204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687200" y="757775"/>
            <a:ext cx="4357800" cy="4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Handles all instructions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Checks for store/load, otherwise unknown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If empty or comment (//) skips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Stats tracked: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Instruction count (total, load, store, unknown)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Address Counts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Last offset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Strides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Registers used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Register Accesses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Stats calculated: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Memory % = (loads+stores)/100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Unique offsets = len(address_counts)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Avg stride = sum(strides)/len(strides)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Spatial locality = (strides&lt;= 16)/ len(strides)*100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B Garamond"/>
              <a:buChar char="-"/>
            </a:pPr>
            <a:r>
              <a:rPr lang="en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Most frequent offset max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b="0" l="94030" r="0" t="10"/>
          <a:stretch/>
        </p:blipFill>
        <p:spPr>
          <a:xfrm>
            <a:off x="4571999" y="1313850"/>
            <a:ext cx="257801" cy="3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94030" r="0" t="10"/>
          <a:stretch/>
        </p:blipFill>
        <p:spPr>
          <a:xfrm>
            <a:off x="2444931" y="3156375"/>
            <a:ext cx="2384875" cy="306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5"/>
          <p:cNvCxnSpPr/>
          <p:nvPr/>
        </p:nvCxnSpPr>
        <p:spPr>
          <a:xfrm>
            <a:off x="266850" y="1005600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5"/>
          <p:cNvCxnSpPr/>
          <p:nvPr/>
        </p:nvCxnSpPr>
        <p:spPr>
          <a:xfrm>
            <a:off x="266850" y="1778275"/>
            <a:ext cx="0" cy="9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5"/>
          <p:cNvCxnSpPr/>
          <p:nvPr/>
        </p:nvCxnSpPr>
        <p:spPr>
          <a:xfrm>
            <a:off x="266850" y="2839350"/>
            <a:ext cx="0" cy="6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5"/>
          <p:cNvCxnSpPr/>
          <p:nvPr/>
        </p:nvCxnSpPr>
        <p:spPr>
          <a:xfrm>
            <a:off x="4829800" y="871900"/>
            <a:ext cx="0" cy="35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Useful Definitions: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795">
                <a:latin typeface="EB Garamond"/>
                <a:ea typeface="EB Garamond"/>
                <a:cs typeface="EB Garamond"/>
                <a:sym typeface="EB Garamond"/>
              </a:rPr>
              <a:t>Temporal Locality - </a:t>
            </a:r>
            <a:r>
              <a:rPr b="1" lang="en" sz="1795">
                <a:latin typeface="EB Garamond"/>
                <a:ea typeface="EB Garamond"/>
                <a:cs typeface="EB Garamond"/>
                <a:sym typeface="EB Garamond"/>
              </a:rPr>
              <a:t>Same </a:t>
            </a:r>
            <a:r>
              <a:rPr lang="en" sz="1795">
                <a:latin typeface="EB Garamond"/>
                <a:ea typeface="EB Garamond"/>
                <a:cs typeface="EB Garamond"/>
                <a:sym typeface="EB Garamond"/>
              </a:rPr>
              <a:t>address accessed multiple times (Most frequent offset)</a:t>
            </a:r>
            <a:endParaRPr sz="179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795">
                <a:latin typeface="EB Garamond"/>
                <a:ea typeface="EB Garamond"/>
                <a:cs typeface="EB Garamond"/>
                <a:sym typeface="EB Garamond"/>
              </a:rPr>
              <a:t>Spatial locality - Accessing nearby addresses </a:t>
            </a:r>
            <a:r>
              <a:rPr b="1" lang="en" sz="1795">
                <a:latin typeface="EB Garamond"/>
                <a:ea typeface="EB Garamond"/>
                <a:cs typeface="EB Garamond"/>
                <a:sym typeface="EB Garamond"/>
              </a:rPr>
              <a:t>sequentially </a:t>
            </a:r>
            <a:r>
              <a:rPr lang="en" sz="1795">
                <a:latin typeface="EB Garamond"/>
                <a:ea typeface="EB Garamond"/>
                <a:cs typeface="EB Garamond"/>
                <a:sym typeface="EB Garamond"/>
              </a:rPr>
              <a:t>(0,4,8,12…)</a:t>
            </a:r>
            <a:endParaRPr sz="179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795">
                <a:latin typeface="EB Garamond"/>
                <a:ea typeface="EB Garamond"/>
                <a:cs typeface="EB Garamond"/>
                <a:sym typeface="EB Garamond"/>
              </a:rPr>
              <a:t>Stride - Distance </a:t>
            </a:r>
            <a:r>
              <a:rPr lang="en" sz="1795">
                <a:latin typeface="EB Garamond"/>
                <a:ea typeface="EB Garamond"/>
                <a:cs typeface="EB Garamond"/>
                <a:sym typeface="EB Garamond"/>
              </a:rPr>
              <a:t>between consecutive mem accesses</a:t>
            </a:r>
            <a:endParaRPr sz="179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795">
                <a:latin typeface="EB Garamond"/>
                <a:ea typeface="EB Garamond"/>
                <a:cs typeface="EB Garamond"/>
                <a:sym typeface="EB Garamond"/>
              </a:rPr>
              <a:t>Load instructions: lw, lb, lh, lbu, lhu,</a:t>
            </a:r>
            <a:endParaRPr sz="179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795">
                <a:latin typeface="EB Garamond"/>
                <a:ea typeface="EB Garamond"/>
                <a:cs typeface="EB Garamond"/>
                <a:sym typeface="EB Garamond"/>
              </a:rPr>
              <a:t>Store instructions: sw, sb, sh</a:t>
            </a:r>
            <a:endParaRPr sz="179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995">
                <a:latin typeface="EB Garamond"/>
                <a:ea typeface="EB Garamond"/>
                <a:cs typeface="EB Garamond"/>
                <a:sym typeface="EB Garamond"/>
              </a:rPr>
              <a:t>Syntax: </a:t>
            </a:r>
            <a:r>
              <a:rPr lang="en" sz="1995">
                <a:solidFill>
                  <a:srgbClr val="6FA8DC"/>
                </a:solidFill>
                <a:latin typeface="EB Garamond"/>
                <a:ea typeface="EB Garamond"/>
                <a:cs typeface="EB Garamond"/>
                <a:sym typeface="EB Garamond"/>
              </a:rPr>
              <a:t>op</a:t>
            </a:r>
            <a:r>
              <a:rPr lang="en" sz="1995">
                <a:latin typeface="EB Garamond"/>
                <a:ea typeface="EB Garamond"/>
                <a:cs typeface="EB Garamond"/>
                <a:sym typeface="EB Garamond"/>
              </a:rPr>
              <a:t> rs2, </a:t>
            </a:r>
            <a:r>
              <a:rPr lang="en" sz="1995">
                <a:solidFill>
                  <a:srgbClr val="93C47D"/>
                </a:solidFill>
                <a:latin typeface="EB Garamond"/>
                <a:ea typeface="EB Garamond"/>
                <a:cs typeface="EB Garamond"/>
                <a:sym typeface="EB Garamond"/>
              </a:rPr>
              <a:t>imm</a:t>
            </a:r>
            <a:r>
              <a:rPr lang="en" sz="1995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(</a:t>
            </a:r>
            <a:r>
              <a:rPr lang="en" sz="1995">
                <a:solidFill>
                  <a:srgbClr val="FF0000"/>
                </a:solidFill>
                <a:latin typeface="EB Garamond"/>
                <a:ea typeface="EB Garamond"/>
                <a:cs typeface="EB Garamond"/>
                <a:sym typeface="EB Garamond"/>
              </a:rPr>
              <a:t>rs1</a:t>
            </a:r>
            <a:r>
              <a:rPr lang="en" sz="1995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)  </a:t>
            </a:r>
            <a:r>
              <a:rPr lang="en" sz="1995">
                <a:latin typeface="EB Garamond"/>
                <a:ea typeface="EB Garamond"/>
                <a:cs typeface="EB Garamond"/>
                <a:sym typeface="EB Garamond"/>
              </a:rPr>
              <a:t>- </a:t>
            </a:r>
            <a:r>
              <a:rPr lang="en" sz="1995">
                <a:solidFill>
                  <a:srgbClr val="9FC5E8"/>
                </a:solidFill>
                <a:latin typeface="EB Garamond"/>
                <a:ea typeface="EB Garamond"/>
                <a:cs typeface="EB Garamond"/>
                <a:sym typeface="EB Garamond"/>
              </a:rPr>
              <a:t>load/store/unknown,  </a:t>
            </a:r>
            <a:r>
              <a:rPr lang="en" sz="1995">
                <a:solidFill>
                  <a:srgbClr val="B6D7A8"/>
                </a:solidFill>
                <a:latin typeface="EB Garamond"/>
                <a:ea typeface="EB Garamond"/>
                <a:cs typeface="EB Garamond"/>
                <a:sym typeface="EB Garamond"/>
              </a:rPr>
              <a:t>offset, </a:t>
            </a:r>
            <a:r>
              <a:rPr lang="en" sz="1995">
                <a:solidFill>
                  <a:srgbClr val="FFFF00"/>
                </a:solidFill>
                <a:latin typeface="EB Garamond"/>
                <a:ea typeface="EB Garamond"/>
                <a:cs typeface="EB Garamond"/>
                <a:sym typeface="EB Garamond"/>
              </a:rPr>
              <a:t>guide, </a:t>
            </a:r>
            <a:r>
              <a:rPr lang="en" sz="1995">
                <a:solidFill>
                  <a:srgbClr val="FF0000"/>
                </a:solidFill>
                <a:latin typeface="EB Garamond"/>
                <a:ea typeface="EB Garamond"/>
                <a:cs typeface="EB Garamond"/>
                <a:sym typeface="EB Garamond"/>
              </a:rPr>
              <a:t>register accessed</a:t>
            </a:r>
            <a:endParaRPr sz="1995">
              <a:solidFill>
                <a:srgbClr val="FF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79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795">
              <a:latin typeface="EB Garamond"/>
              <a:ea typeface="EB Garamond"/>
              <a:cs typeface="EB Garamond"/>
              <a:sym typeface="EB Garamond"/>
            </a:endParaRPr>
          </a:p>
        </p:txBody>
      </p:sp>
      <p:cxnSp>
        <p:nvCxnSpPr>
          <p:cNvPr id="88" name="Google Shape;88;p16"/>
          <p:cNvCxnSpPr/>
          <p:nvPr/>
        </p:nvCxnSpPr>
        <p:spPr>
          <a:xfrm>
            <a:off x="328650" y="1017725"/>
            <a:ext cx="848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6"/>
          <p:cNvCxnSpPr/>
          <p:nvPr/>
        </p:nvCxnSpPr>
        <p:spPr>
          <a:xfrm>
            <a:off x="311700" y="3710125"/>
            <a:ext cx="848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DEMO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Note: </a:t>
            </a: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I did not make the code.s file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Results / </a:t>
            </a: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Findings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42603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Memory Instruction Mix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90% spatial locality is strong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Most </a:t>
            </a: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access</a:t>
            </a: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 are 4 bytes apart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Better cache performance (time to prefetch data)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Good Temporal Locality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0 is the most frequent offset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Cache performs better if it can use the same data repeatedly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n">
                <a:latin typeface="EB Garamond"/>
                <a:ea typeface="EB Garamond"/>
                <a:cs typeface="EB Garamond"/>
                <a:sym typeface="EB Garamond"/>
              </a:rPr>
              <a:t>3 Registers used: 2 access sequentially, 1 doesnt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720175" y="1145350"/>
            <a:ext cx="4260300" cy="3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EB Garamond"/>
              <a:buChar char="-"/>
            </a:pPr>
            <a:r>
              <a:rPr lang="en"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New concepts (locality/ strides)</a:t>
            </a:r>
            <a:endParaRPr sz="180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EB Garamond"/>
              <a:buChar char="-"/>
            </a:pPr>
            <a:r>
              <a:rPr lang="en"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Parsing had to be designed to work around commas comments, and empty lines</a:t>
            </a:r>
            <a:endParaRPr sz="180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EB Garamond"/>
              <a:buChar char="-"/>
            </a:pPr>
            <a:r>
              <a:rPr lang="en"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 had a double counting error with my unknown handling</a:t>
            </a:r>
            <a:endParaRPr sz="180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EB Garamond"/>
              <a:buChar char="-"/>
            </a:pPr>
            <a:r>
              <a:rPr lang="en"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Visible stride patterns through the first 90% of the program’s memory instructions</a:t>
            </a:r>
            <a:endParaRPr sz="180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